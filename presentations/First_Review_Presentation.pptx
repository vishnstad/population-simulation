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373BC-756C-9947-D7F4-7EF02F453481}" v="8" dt="2026-07-22T11:04:40.345"/>
    <p1510:client id="{A2F7B59D-34B7-EC53-B3A4-86C845347CED}" v="1" dt="2026-07-22T10:58:13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13315C"/>
                </a:solidFill>
                <a:latin typeface="Calibri"/>
              </a:defRPr>
            </a:pPr>
            <a:r>
              <a:t>Hierarchical Multi-Agent Population Simulation</a:t>
            </a:r>
          </a:p>
          <a:p>
            <a:pPr algn="ctr">
              <a:defRPr sz="1400" b="0">
                <a:solidFill>
                  <a:srgbClr val="134E7C"/>
                </a:solidFill>
                <a:latin typeface="Calibri"/>
              </a:defRPr>
            </a:pPr>
            <a:r>
              <a:t>Calibrated Distribution-Valued Cluster Agents for Held-Out Survey Prediction</a:t>
            </a:r>
          </a:p>
        </p:txBody>
      </p:sp>
      <p:pic>
        <p:nvPicPr>
          <p:cNvPr id="4" name="Picture 3" descr="1ebf939e-38c1-4044-bb92-b6712d24ad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11" y="91440"/>
            <a:ext cx="5332778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65760" y="13777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07E19"/>
                </a:solidFill>
                <a:latin typeface="Calibri"/>
              </a:defRPr>
            </a:pPr>
            <a:r>
              <a:t>First review - Final Year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65760" y="3112389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3315C"/>
                </a:solidFill>
                <a:latin typeface="Calibri"/>
              </a:defRPr>
            </a:pPr>
            <a:r>
              <a:t>Team No.: B17</a:t>
            </a:r>
          </a:p>
          <a:p>
            <a:pPr algn="ctr">
              <a:defRPr sz="1200" b="0">
                <a:solidFill>
                  <a:srgbClr val="222222"/>
                </a:solidFill>
                <a:latin typeface="Calibri"/>
              </a:defRPr>
            </a:pPr>
            <a:r>
              <a:t>Nitin Krishna V  (CB.SC.U4AIE23156)   |   Vishal S  (CB.SC.U4AIE23160)</a:t>
            </a:r>
          </a:p>
          <a:p>
            <a:pPr algn="ctr">
              <a:defRPr sz="1200" b="0">
                <a:solidFill>
                  <a:srgbClr val="222222"/>
                </a:solidFill>
                <a:latin typeface="Calibri"/>
              </a:defRPr>
            </a:pPr>
            <a:r>
              <a:t>Manogna Challa  (CB.SC.U4AIE23175)   |   Gaurav Mahesh  (CB.SC.U4AIE23176)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48691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315C"/>
                </a:solidFill>
                <a:latin typeface="Calibri"/>
              </a:defRPr>
            </a:pPr>
            <a:r>
              <a:t>Mentor: Dr. Snigdhatanu Acharya   |   Co-Mentor: Dr. Premjith B.</a:t>
            </a:r>
          </a:p>
          <a:p>
            <a:pPr algn="ct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School of Artificial Intelligence, Amrita Vishwa Vidyapeetham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01 | Project Progress Since Zeroth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22222"/>
                </a:solidFill>
                <a:latin typeface="Calibri"/>
              </a:defRPr>
            </a:pPr>
            <a:r>
              <a:t>Core focus: What has been built, tested, and validated on real microdata since Zeroth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931920" cy="498348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1. What We Built &amp; Validated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3315C"/>
                </a:solidFill>
              </a:rPr>
              <a:t>• End-to-End Pipeline:</a:t>
            </a:r>
            <a:r>
              <a:rPr sz="1100">
                <a:solidFill>
                  <a:srgbClr val="222222"/>
                </a:solidFill>
              </a:rPr>
              <a:t> Built and frozen modules M1 through M10 (174 automated tests passing, 0 lint warnings).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3315C"/>
                </a:solidFill>
              </a:rPr>
              <a:t>• Real Survey Data:</a:t>
            </a:r>
            <a:r>
              <a:rPr sz="1100">
                <a:solidFill>
                  <a:srgbClr val="222222"/>
                </a:solidFill>
              </a:rPr>
              <a:t> Ingested and harmonized pooled GSS 2010–2022 (n = 18,772 respondents).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3315C"/>
                </a:solidFill>
              </a:rPr>
              <a:t>• Pre-Registered Verdict:</a:t>
            </a:r>
            <a:r>
              <a:rPr sz="1100">
                <a:solidFill>
                  <a:srgbClr val="222222"/>
                </a:solidFill>
              </a:rPr>
              <a:t> Tested across 3 open model tiers (Ministral 3B, 8B, 14B).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3315C"/>
                </a:solidFill>
              </a:rPr>
              <a:t>• Headline 14B Result:</a:t>
            </a:r>
            <a:r>
              <a:rPr sz="1100">
                <a:solidFill>
                  <a:srgbClr val="222222"/>
                </a:solidFill>
              </a:rPr>
              <a:t> -25.3% W1 error reduction over the national baseline on held-out questions (beating our pre-registered -20% target).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3315C"/>
                </a:solidFill>
              </a:rPr>
              <a:t>• Variance Recovered:</a:t>
            </a:r>
            <a:r>
              <a:rPr sz="1100">
                <a:solidFill>
                  <a:srgbClr val="222222"/>
                </a:solidFill>
              </a:rPr>
              <a:t> Population variance ratio = 1.009 (target [0.8, 1.2]), overcoming persona variance collapse.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234440"/>
            <a:ext cx="402336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2. Where Real Data Corrected Our Spec</a:t>
            </a:r>
          </a:p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Original proposal had reasoned estimates. Testing on real data caught 5 critical parameters: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09160" y="1920240"/>
          <a:ext cx="3840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Initial Spec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Measured Reality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Cluster count (K)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 = 150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K = 56 (min cell &gt;= 60)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Survey 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GSS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Pooled 2010–2022 (2024 lacks region)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Partition axes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Age x Edu x Geo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Age x Degree x Sex (Geo in card)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Usable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148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74 clear SNR &gt;= 1.5 noise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API spend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$1,200 budget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$0 (Free tiers + caching router)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02 | 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8138160" cy="21031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The Core Scientific Problem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13315C"/>
                </a:solidFill>
                <a:latin typeface="Calibri"/>
              </a:defRPr>
            </a:pPr>
            <a:r>
              <a:t>Given a demographic subgroup described only by population shares and answers to other survey questions, what is the full response distribution (histogram) to an unasked question?</a:t>
            </a:r>
          </a:p>
          <a:p>
            <a:pPr>
              <a:spcBef>
                <a:spcPts val="600"/>
              </a:spcBef>
              <a:defRPr sz="1100">
                <a:solidFill>
                  <a:srgbClr val="222222"/>
                </a:solidFill>
              </a:defRPr>
            </a:pPr>
            <a:r>
              <a:t>• Why full distributions? A single average score hides polarization. Bimodal public opinions look identical to moderate consensus when only means are calculated.</a:t>
            </a:r>
            <a:br/>
            <a:r>
              <a:t>• Why persona prompting fails: Prompting LLMs as single personas suffers from within-group variance collapse (Bisbee et al.) and regression to the mean between groups.</a:t>
            </a:r>
            <a:br/>
            <a:r>
              <a:t>• Why cross-tabs cannot solve it: Standard cross-tabulations only report questions already asked in historical surveys.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54680"/>
            <a:ext cx="813816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Pre-Registered Objectives (Fixed Before Any Run)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3315C"/>
                </a:solidFill>
              </a:rPr>
              <a:t>• Objective 1 (Accuracy):</a:t>
            </a:r>
            <a:r>
              <a:rPr sz="1100">
                <a:solidFill>
                  <a:srgbClr val="222222"/>
                </a:solidFill>
              </a:rPr>
              <a:t> Beat the national-marginal baseline (B0a) by at least 20% in Wasserstein-1 (W1) distance on held-out survey items where demographic subgroups genuinely differ.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3315C"/>
                </a:solidFill>
              </a:rPr>
              <a:t>• Objective 2 (Distributional Fidelity):</a:t>
            </a:r>
            <a:r>
              <a:rPr sz="1100">
                <a:solidFill>
                  <a:srgbClr val="222222"/>
                </a:solidFill>
              </a:rPr>
              <a:t> Recover true population variance within a ratio band of [0.8, 1.2], proving the method prevents persona variance collapse.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3315C"/>
                </a:solidFill>
              </a:rPr>
              <a:t>• Objective 3 (Computational Efficiency):</a:t>
            </a:r>
            <a:r>
              <a:rPr sz="1100">
                <a:solidFill>
                  <a:srgbClr val="222222"/>
                </a:solidFill>
              </a:rPr>
              <a:t> Match or exceed per-individual persona sampling accuracy at equal or lower query cost ($0 budget using free-tier APIs and prompt caching).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3315C"/>
                </a:solidFill>
              </a:rPr>
              <a:t>• Scope &amp; Honesty Boundary:</a:t>
            </a:r>
            <a:r>
              <a:rPr sz="1100">
                <a:solidFill>
                  <a:srgbClr val="222222"/>
                </a:solidFill>
              </a:rPr>
              <a:t> Evaluated on US General Social Survey (pooled 2010–2022). India Global Flourishing Study (n = 12,765) staged for replication. Synthetic policy scenarios are accompanied by an explicit Honesty 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/>
              <a:t>03 | </a:t>
            </a:r>
            <a:r>
              <a:rPr lang="en-IN" sz="2700" b="1" dirty="0"/>
              <a:t>Consolidated </a:t>
            </a:r>
            <a:r>
              <a:rPr sz="2700" b="1" dirty="0"/>
              <a:t>Literature Review &amp; </a:t>
            </a:r>
            <a:r>
              <a:rPr lang="en-IN" sz="2700" b="1" dirty="0"/>
              <a:t>Research</a:t>
            </a:r>
            <a:r>
              <a:rPr sz="2700" b="1" dirty="0"/>
              <a:t>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868680"/>
          <a:ext cx="8138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283464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Literature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Finding / Approach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Identified Research Gap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Argyle et al. (2023)</a:t>
                      </a:r>
                      <a:br/>
                      <a:r>
                        <a:t>Political Analysis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GPT-3 personas reproduce demographic voting and survey trends.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Static personas; lacks distributional calibration.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Bisbee et al. (2024)</a:t>
                      </a:r>
                      <a:br/>
                      <a:r>
                        <a:t>Political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Evaluates LLMs against human surveys; means track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Severe within-group variance collapse (F1); run instability.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Santurkar et al. (2023)</a:t>
                      </a:r>
                      <a:br/>
                      <a:r>
                        <a:t>ICML (OpinionQA)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Benchmarks LLM opinions against Pew survey distributions.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Evaluates steering towards national averages, no subgroup calibration.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Park et al. (2023, 2024)</a:t>
                      </a:r>
                      <a:br/>
                      <a:r>
                        <a:t>ACM UIST / arXiv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Generative agents / 1,000 interview-grounded agents.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Linear cost scaling (1 agent per person); flat population structure.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 et al. (2024) / Pi (2025)</a:t>
                      </a:r>
                      <a:br/>
                      <a:r>
                        <a:t>ACL / arXiv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EconAgent &amp; AgentSociety: large-scale multi-agent sims.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Homogeneous personas; heavy compute; lacks statistical hierarchy.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160520"/>
            <a:ext cx="2606040" cy="205740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Gap 1: Compute Explosion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22222"/>
                </a:solidFill>
                <a:latin typeface="Calibri"/>
              </a:defRPr>
            </a:pPr>
            <a:r>
              <a:t>Simulating thousands of individuals is cost-prohibitive.</a:t>
            </a:r>
            <a:br/>
            <a:r>
              <a:t>Our Fix: 1 query per demographic cluster (K = 56).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4160520"/>
            <a:ext cx="2606040" cy="205740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Gap 2: Distributional Collapse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22222"/>
                </a:solidFill>
                <a:latin typeface="Calibri"/>
              </a:defRPr>
            </a:pPr>
            <a:r>
              <a:t>Prompting personas collapses within-group variance.</a:t>
            </a:r>
            <a:br/>
            <a:r>
              <a:t>Our Fix: Elicit full histograms + cross-fitted calibration.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4160520"/>
            <a:ext cx="2606040" cy="205740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Gap 3: Flat Hierarchy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22222"/>
                </a:solidFill>
                <a:latin typeface="Calibri"/>
              </a:defRPr>
            </a:pPr>
            <a:r>
              <a:t>Flat agent pools lack structured statistical shrinkage.</a:t>
            </a:r>
            <a:br/>
            <a:r>
              <a:t>Our Fix: Supervised tree pooling + subspace projection.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04 | Finalized System Architecture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81381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System Architecture: The 10-Module Pipeline (M1–M10)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3315C"/>
                </a:solidFill>
              </a:rPr>
              <a:t>• Data Foundation:</a:t>
            </a:r>
            <a:r>
              <a:rPr sz="1050">
                <a:solidFill>
                  <a:srgbClr val="222222"/>
                </a:solidFill>
              </a:rPr>
              <a:t> M1 Ingestion (GSS pooled 2010–2022) -&gt; M2 Cluster Tree (K=56 leaves on age x degree x sex) -&gt; M3 Stat Cards (12 observed anchor survey items + marginals).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3315C"/>
                </a:solidFill>
              </a:rPr>
              <a:t>• Oracle Router (M7):</a:t>
            </a:r>
            <a:r>
              <a:rPr sz="1050">
                <a:solidFill>
                  <a:srgbClr val="222222"/>
                </a:solidFill>
              </a:rPr>
              <a:t> Incoming questions are checked against the GSS codebook. If already asked -&gt; served from the weighted cross-tab ($0 cost, 0 error). The LLM is called ONLY for unasked questions.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3315C"/>
                </a:solidFill>
              </a:rPr>
              <a:t>• Elicitation &amp; Calibration:</a:t>
            </a:r>
            <a:r>
              <a:rPr sz="1050">
                <a:solidFill>
                  <a:srgbClr val="222222"/>
                </a:solidFill>
              </a:rPr>
              <a:t> M4 Distributional Elicitation (14B model, 3 repeats) -&gt; M5 Anchor Calibration (Level/Deviation Decomposition).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3315C"/>
                </a:solidFill>
              </a:rPr>
              <a:t>• Rollup &amp; Reporting:</a:t>
            </a:r>
            <a:r>
              <a:rPr sz="1050">
                <a:solidFill>
                  <a:srgbClr val="222222"/>
                </a:solidFill>
              </a:rPr>
              <a:t> M6 ACS 2024 Post-Stratification Raking -&gt; M9 Evaluation Harness (W1 vs B0a) -&gt; M10 Honesty Box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77639"/>
            <a:ext cx="8138160" cy="23317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Core Mathematical Formulation: Level/Structure Decomposition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13315C"/>
                </a:solidFill>
                <a:latin typeface="Calibri"/>
              </a:defRPr>
            </a:pPr>
            <a:r>
              <a:t>pred_cdf(c) = level_cdf  +  s · P_r ( raw_cdf(c) - Σ w_c · raw_cdf(c) )</a:t>
            </a:r>
          </a:p>
          <a:p>
            <a:pPr>
              <a:spcBef>
                <a:spcPts val="200"/>
              </a:spcBef>
            </a:pPr>
            <a:r>
              <a:rPr b="1" sz="1000">
                <a:solidFill>
                  <a:srgbClr val="13315C"/>
                </a:solidFill>
              </a:rPr>
              <a:t>• level_cdf: </a:t>
            </a:r>
            <a:r>
              <a:rPr sz="1000">
                <a:solidFill>
                  <a:srgbClr val="222222"/>
                </a:solidFill>
              </a:rPr>
              <a:t> National marginal (observed topline or population LLM call). Handed identically to baseline B0a.</a:t>
            </a:r>
          </a:p>
          <a:p>
            <a:pPr>
              <a:spcBef>
                <a:spcPts val="200"/>
              </a:spcBef>
            </a:pPr>
            <a:r>
              <a:rPr b="1" sz="1000">
                <a:solidFill>
                  <a:srgbClr val="13315C"/>
                </a:solidFill>
              </a:rPr>
              <a:t>• raw_cdf(c) - Σ w_c · raw_cdf(c): </a:t>
            </a:r>
            <a:r>
              <a:rPr sz="1000">
                <a:solidFill>
                  <a:srgbClr val="222222"/>
                </a:solidFill>
              </a:rPr>
              <a:t> The model's raw subgroup deviation, isolating its between-cluster opinion gradient.</a:t>
            </a:r>
          </a:p>
          <a:p>
            <a:pPr>
              <a:spcBef>
                <a:spcPts val="200"/>
              </a:spcBef>
            </a:pPr>
            <a:r>
              <a:rPr b="1" sz="1000">
                <a:solidFill>
                  <a:srgbClr val="13315C"/>
                </a:solidFill>
              </a:rPr>
              <a:t>• P_r (Subspace Projection): </a:t>
            </a:r>
            <a:r>
              <a:rPr sz="1000">
                <a:solidFill>
                  <a:srgbClr val="222222"/>
                </a:solidFill>
              </a:rPr>
              <a:t> Projects deviation onto top-r principal directions of anchor variance (removes isotropic noise).</a:t>
            </a:r>
          </a:p>
          <a:p>
            <a:pPr>
              <a:spcBef>
                <a:spcPts val="200"/>
              </a:spcBef>
            </a:pPr>
            <a:r>
              <a:rPr b="1" sz="1000">
                <a:solidFill>
                  <a:srgbClr val="13315C"/>
                </a:solidFill>
              </a:rPr>
              <a:t>• s (Scaling Factor): </a:t>
            </a:r>
            <a:r>
              <a:rPr sz="1000">
                <a:solidFill>
                  <a:srgbClr val="222222"/>
                </a:solidFill>
              </a:rPr>
              <a:t> Fitted strictly on 34 anchors via F=3 cross-fitting. No target truth is ever touched.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05 | Implementation Status – Prototype / Proof-of-Concept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868680"/>
          <a:ext cx="4023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Pipeline Module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M1: Ingestion &amp; Harmonization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M2: Cluster Tree &amp; Sampling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M3: Stat Card Generator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M4: LLM Distributional Elicitation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M5: Cross-Fitted Calibration Layer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M6: Post-Stratification Raking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M7: Oracle Router (TF-IDF Cosine)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M8: Opinion Dynamics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E07E19"/>
                          </a:solidFill>
                          <a:latin typeface="Calibri"/>
                        </a:defRPr>
                      </a:pPr>
                      <a:r>
                        <a:t>Stage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M9: Evaluation Benchmark Harness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M10: Streamlit App + Honesty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709160" y="868680"/>
            <a:ext cx="3931920" cy="53035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Engineering Rigor &amp; Verification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Automated Test Suite: </a:t>
            </a:r>
            <a:r>
              <a:rPr sz="1050">
                <a:solidFill>
                  <a:srgbClr val="222222"/>
                </a:solidFill>
              </a:rPr>
              <a:t> 174 automated tests passing via pytest; 0 lint warnings. Contract tests verify that cards never leak target answers.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Free-Tier API Router: </a:t>
            </a:r>
            <a:r>
              <a:rPr sz="1050">
                <a:solidFill>
                  <a:srgbClr val="222222"/>
                </a:solidFill>
              </a:rPr>
              <a:t> Built custom provider router supporting Mistral, Groq, and Gemini. Daily call counters and token ceiling prevent rate-limit crashes.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Atomic SQLite Caching: </a:t>
            </a:r>
            <a:r>
              <a:rPr sz="1050">
                <a:solidFill>
                  <a:srgbClr val="222222"/>
                </a:solidFill>
              </a:rPr>
              <a:t> Every single prompt-response pair is cached. An interrupted batch run resumes instantly with zero redundant spend.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Two Independent Verifications: </a:t>
            </a:r>
            <a:r>
              <a:rPr sz="1050">
                <a:solidFill>
                  <a:srgbClr val="222222"/>
                </a:solidFill>
              </a:rPr>
              <a:t> (1) verify_headline.py re-calculated macro W1 from scratch, agreeing to 0.00e+00.
(2) verify_toplines.py re-parsed published GSS codebook PDF; 1,147 of 1,148 tables matched exactly.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Zero Dollar Compute: </a:t>
            </a:r>
            <a:r>
              <a:rPr sz="1050">
                <a:solidFill>
                  <a:srgbClr val="222222"/>
                </a:solidFill>
              </a:rPr>
              <a:t> Evaluated entire benchmark across 37k+ calls at $0 budget.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06 | Experimental Setup &amp;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3931920" cy="53035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1. Experimental Setup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Survey Dataset Bed: </a:t>
            </a:r>
            <a:r>
              <a:rPr sz="1000">
                <a:solidFill>
                  <a:srgbClr val="222222"/>
                </a:solidFill>
              </a:rPr>
              <a:t> GSS pooled 2010–2022 (18,772 respondents). Provides high statistical power across decades.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Demographic Partition: </a:t>
            </a:r>
            <a:r>
              <a:rPr sz="1000">
                <a:solidFill>
                  <a:srgbClr val="222222"/>
                </a:solidFill>
              </a:rPr>
              <a:t> age_band x degree x sex yielding K = 56 clusters (enforcing min cell size &gt;= 60 to suppress noise).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Item Pool Filtering: </a:t>
            </a:r>
            <a:r>
              <a:rPr sz="1000">
                <a:solidFill>
                  <a:srgbClr val="222222"/>
                </a:solidFill>
              </a:rPr>
              <a:t> 148 survey items evaluated -&gt; 74 cleared the split-half noise gate (SNR &gt;= 1.5, noise floor 0.0273).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Frozen Item Split: </a:t>
            </a:r>
            <a:r>
              <a:rPr sz="1000">
                <a:solidFill>
                  <a:srgbClr val="222222"/>
                </a:solidFill>
              </a:rPr>
              <a:t> 34 anchors (context for cards) / 40 targets (held-out and scored). Stratified by topic.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Census Raking Margins: </a:t>
            </a:r>
            <a:r>
              <a:rPr sz="1000">
                <a:solidFill>
                  <a:srgbClr val="222222"/>
                </a:solidFill>
              </a:rPr>
              <a:t> ACS 2024 PUMS (60 demographic cells, 267.2M US adults), validated against GSS within 2.9 pp.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Model Tiers Tested: </a:t>
            </a:r>
            <a:r>
              <a:rPr sz="1000">
                <a:solidFill>
                  <a:srgbClr val="222222"/>
                </a:solidFill>
              </a:rPr>
              <a:t> Ministral 3B, 8B (development arm), and 14B (headline confirmatory arm).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17720" y="868680"/>
          <a:ext cx="4023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05840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Layer Objective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3315C"/>
                          </a:solidFill>
                          <a:latin typeface="Calibri"/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Match GSS codebook toplines within 0.5 pp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 (142/142)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3315C"/>
                          </a:solidFill>
                          <a:latin typeface="Calibri"/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Estimate sampling noise floor via split-half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 (0.0273)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3315C"/>
                          </a:solidFill>
                          <a:latin typeface="Calibri"/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Permutation test: stat-card reading check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 (+0.0689)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3315C"/>
                          </a:solidFill>
                          <a:latin typeface="Calibri"/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Calibration arithmetic oracle pass-through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 (1.1e-16)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3315C"/>
                          </a:solidFill>
                          <a:latin typeface="Calibri"/>
                        </a:defRPr>
                      </a:pPr>
                      <a:r>
                        <a:t>L4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Beat national baseline on held-out targets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 (-25.3%)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3315C"/>
                          </a:solidFill>
                          <a:latin typeface="Calibri"/>
                        </a:defRPr>
                      </a:pPr>
                      <a: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Direct memorization &amp; leakage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 (2/39 flag)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07 | Results – Quantitative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868680"/>
          <a:ext cx="8138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188720"/>
                <a:gridCol w="1188720"/>
                <a:gridCol w="192024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Subset (14B Model)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Achieved W1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B0a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Noise Floor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Relative Error Gain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All 39 Scored Held-Out Targets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0.0602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0.0807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0.0273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-25.3% (PASS &gt;= 20%)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Top-Quartile Heterogeneity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0.1139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-30.9% (PASS both)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Leakage-Resistant Subset (32 items)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0.0565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0.0757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0.0324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-25.4% (PASS both)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Uncalibrated Baseline (B4)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0.1926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0.0273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Calibration cuts error 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611880"/>
            <a:ext cx="3931920" cy="25603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Distributional Shape Metrics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13315C"/>
                </a:solidFill>
              </a:rPr>
              <a:t>• Population Variance Ratio = 1.009: </a:t>
            </a:r>
            <a:r>
              <a:rPr sz="950">
                <a:solidFill>
                  <a:srgbClr val="222222"/>
                </a:solidFill>
              </a:rPr>
              <a:t> Pre-registered pass band was [0.8, 1.2]. Objective 2 is passed.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13315C"/>
                </a:solidFill>
              </a:rPr>
              <a:t>• 90% Interval Coverage = 0.899: </a:t>
            </a:r>
            <a:r>
              <a:rPr sz="950">
                <a:solidFill>
                  <a:srgbClr val="222222"/>
                </a:solidFill>
              </a:rPr>
              <a:t> Matches nominal 0.90 expectation almost exactly.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13315C"/>
                </a:solidFill>
              </a:rPr>
              <a:t>• Tolerance-Battery Ordering ρ = +0.879: </a:t>
            </a:r>
            <a:r>
              <a:rPr sz="950">
                <a:solidFill>
                  <a:srgbClr val="222222"/>
                </a:solidFill>
              </a:rPr>
              <a:t> Model accurately captures cross-demographic ordering across 5 target groups (atheist, communist, gay man, etc.).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13315C"/>
                </a:solidFill>
              </a:rPr>
              <a:t>• Calibration ECE = 0.0227: </a:t>
            </a:r>
            <a:r>
              <a:rPr sz="950">
                <a:solidFill>
                  <a:srgbClr val="222222"/>
                </a:solidFill>
              </a:rPr>
              <a:t> Expected Calibration Error indicates strong probability alignment.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3611880"/>
            <a:ext cx="402336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Capability Scaling Across Model Tiers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13315C"/>
                </a:solidFill>
              </a:rPr>
              <a:t>• Ministral 3B (Open Weights): </a:t>
            </a:r>
            <a:r>
              <a:rPr sz="950">
                <a:solidFill>
                  <a:srgbClr val="222222"/>
                </a:solidFill>
              </a:rPr>
              <a:t> Achieved W1 = 0.0686 (-15.0% vs B0a). Fast and lightweight for local prototyping.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13315C"/>
                </a:solidFill>
              </a:rPr>
              <a:t>• Ministral 8B (Development Arm): </a:t>
            </a:r>
            <a:r>
              <a:rPr sz="950">
                <a:solidFill>
                  <a:srgbClr val="222222"/>
                </a:solidFill>
              </a:rPr>
              <a:t> Achieved W1 = 0.0634 (-21.4% vs B0a). Used to pre-register and freeze all calibration hyperparameters.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13315C"/>
                </a:solidFill>
              </a:rPr>
              <a:t>• Ministral 14B (Confirmatory Arm): </a:t>
            </a:r>
            <a:r>
              <a:rPr sz="950">
                <a:solidFill>
                  <a:srgbClr val="222222"/>
                </a:solidFill>
              </a:rPr>
              <a:t> Achieved W1 = 0.0602 (-25.3% vs B0a). Significant jump in capability.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13315C"/>
                </a:solidFill>
              </a:rPr>
              <a:t>• Key Takeaway: </a:t>
            </a:r>
            <a:r>
              <a:rPr sz="950">
                <a:solidFill>
                  <a:srgbClr val="222222"/>
                </a:solidFill>
              </a:rPr>
              <a:t> Monotonic improvement in W1 error as model parameter size increases. Each arm's strength was predictable from anchor fit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08 | Results Analysis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3931920" cy="53035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1. The Discovery: Error Decomposition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Where LLMs Go Wrong: </a:t>
            </a:r>
            <a:r>
              <a:rPr sz="1000">
                <a:solidFill>
                  <a:srgbClr val="222222"/>
                </a:solidFill>
              </a:rPr>
              <a:t> Raw LLM error (~0.20 W1) is NOT caused by collapsed subgroup differences. It is dominated by a constant per-item level offset (e.g. predicting 72% for communist speech allowance when true value is 29%).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Subgroup Ordering Is Present: </a:t>
            </a:r>
            <a:r>
              <a:rPr sz="1000">
                <a:solidFill>
                  <a:srgbClr val="222222"/>
                </a:solidFill>
              </a:rPr>
              <a:t> The between-cluster Spearman correlation is high even in raw output (+0.597 macro on 14B, 8 of 10 items significant). The LLM understands which demographics are more/less supportive.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Gate 3 Diagnosis: </a:t>
            </a:r>
            <a:r>
              <a:rPr sz="1000">
                <a:solidFill>
                  <a:srgbClr val="222222"/>
                </a:solidFill>
              </a:rPr>
              <a:t> The raw permutation test was red (+0.0011) because raw W1 was overwhelmed by the level offset. Once level-matched, real vs permuted gap was +0.0689 (green).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Why M5 Works: </a:t>
            </a:r>
            <a:r>
              <a:rPr sz="1000">
                <a:solidFill>
                  <a:srgbClr val="222222"/>
                </a:solidFill>
              </a:rPr>
              <a:t> M5 decouples national level from subgroup deviation, rescuing the LLM's valid subgroup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868680"/>
            <a:ext cx="402336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2. Ablations: What Is Load-Bearing?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Subspace Projection (P_r): </a:t>
            </a:r>
            <a:r>
              <a:rPr sz="1000">
                <a:solidFill>
                  <a:srgbClr val="222222"/>
                </a:solidFill>
              </a:rPr>
              <a:t> Restricting deviations to top anchor directions cuts error from 0.0688 to 0.0638 (-7% gain by discarding isotropic noise).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Cross-Topic Transfer: </a:t>
            </a:r>
            <a:r>
              <a:rPr sz="1000">
                <a:solidFill>
                  <a:srgbClr val="222222"/>
                </a:solidFill>
              </a:rPr>
              <a:t> Standard calibration (0.0638 W1) vs adversarial topic-disjoint calibration (0.0641 W1) costs only 0.0003. Proves anchors transfer across topics!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Anchor Contribution: </a:t>
            </a:r>
            <a:r>
              <a:rPr sz="1000">
                <a:solidFill>
                  <a:srgbClr val="222222"/>
                </a:solidFill>
              </a:rPr>
              <a:t> Stat cards with anchors improve over pure demographics by -6.8%.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Item Win-Rate: </a:t>
            </a:r>
            <a:r>
              <a:rPr sz="1000">
                <a:solidFill>
                  <a:srgbClr val="222222"/>
                </a:solidFill>
              </a:rPr>
              <a:t> The calibrated system beats the national baseline on 36 of 39 held-out items (92.3% win rate).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Where It Loses (3 items): </a:t>
            </a:r>
            <a:r>
              <a:rPr sz="1000">
                <a:solidFill>
                  <a:srgbClr val="222222"/>
                </a:solidFill>
              </a:rPr>
              <a:t> Flat national spending items (natroad, natarms, natmass) where demographic groups barely differ.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09 | Prototype /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8138160" cy="237744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Working Prototype &amp; Query Execution</a:t>
            </a:r>
          </a:p>
          <a:p>
            <a:pPr algn="l">
              <a:defRPr sz="1200" b="1">
                <a:solidFill>
                  <a:srgbClr val="13315C"/>
                </a:solidFill>
                <a:latin typeface="Calibri"/>
              </a:defRPr>
            </a:pPr>
            <a:r>
              <a:t>Executable CLI and Streamlit web dashboard: simulate_region.py &amp; M10_app</a:t>
            </a:r>
          </a:p>
          <a:p>
            <a:pPr>
              <a:spcBef>
                <a:spcPts val="600"/>
              </a:spcBef>
              <a:defRPr sz="1100">
                <a:solidFill>
                  <a:srgbClr val="222222"/>
                </a:solidFill>
              </a:defRPr>
            </a:pPr>
            <a:r>
              <a:t>• Path A (Observed Survey Question): If the query matches a GSS item (e.g., satfin: financial satisfaction), the router serves the empirical weighted cross-tab instantly (0 API calls, $0 cost, exact historical ground truth).</a:t>
            </a:r>
            <a:br/>
            <a:r>
              <a:t>• Path B (Unasked Policy Scenario): Elicits distributions across the 56 demographic cluster agents, applies cross-fitted anchor calibration, and rakes to ACS 2024 census weights to yield regional/national distributions with 90% confidence intervals.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813816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The Lead Demo Item &amp; Mandatory Honesty Box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3315C"/>
                </a:solidFill>
              </a:rPr>
              <a:t>• Lead Demo Item (natroad - Highway Spending): </a:t>
            </a:r>
            <a:r>
              <a:rPr sz="1100">
                <a:solidFill>
                  <a:srgbClr val="222222"/>
                </a:solidFill>
              </a:rPr>
              <a:t> Selected because it has a clean demographic age gradient (SNR 3.61) and has not been over-debated in national media (unlike pray or homosex). Reviewers cannot dismiss it as memorized training data.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3315C"/>
                </a:solidFill>
              </a:rPr>
              <a:t>• Mandatory Honesty Box Architecture: </a:t>
            </a:r>
            <a:r>
              <a:rPr sz="1100">
                <a:solidFill>
                  <a:srgbClr val="222222"/>
                </a:solidFill>
              </a:rPr>
              <a:t> Every rendered prediction must display: (1) The nearest validated survey item in semantic space, (2) Its measured W1 score, and (3) Its distance to the national baseline.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3315C"/>
                </a:solidFill>
              </a:rPr>
              <a:t>• Why This Matters: </a:t>
            </a:r>
            <a:r>
              <a:rPr sz="1100">
                <a:solidFill>
                  <a:srgbClr val="222222"/>
                </a:solidFill>
              </a:rPr>
              <a:t> Product and policy scenarios have no ground truth and never will. The Honesty Box ensures users know exactly how much confidence the underlying benchmark warrants.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10 | Current Limitations &amp; 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3931920" cy="53035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Engineering Challenges Overcome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Free-Tier Rate Limits: </a:t>
            </a:r>
            <a:r>
              <a:rPr sz="1000">
                <a:solidFill>
                  <a:srgbClr val="222222"/>
                </a:solidFill>
              </a:rPr>
              <a:t> Ministral 14B was capped at 30 req/min (vs 750 for 3B). Solved by building multi-provider failover and pacing queues.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Shell Timeouts &amp; Freezes: </a:t>
            </a:r>
            <a:r>
              <a:rPr sz="1000">
                <a:solidFill>
                  <a:srgbClr val="222222"/>
                </a:solidFill>
              </a:rPr>
              <a:t> Long batch runs froze cloud shells. Solved by chunking runs into atomic sub-tasks with SQLite prompt caching.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GSS 2024 Data Defect: </a:t>
            </a:r>
            <a:r>
              <a:rPr sz="1000">
                <a:solidFill>
                  <a:srgbClr val="222222"/>
                </a:solidFill>
              </a:rPr>
              <a:t> GSS 2024 release left region_7222 0% populated, causing complete demographic case count n = 0. Solved by detecting the issue and pooling 2010–2022.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Cloudflare Blocking Groq: </a:t>
            </a:r>
            <a:r>
              <a:rPr sz="1000">
                <a:solidFill>
                  <a:srgbClr val="222222"/>
                </a:solidFill>
              </a:rPr>
              <a:t> Groq API was blocked in our sandbox. Solved by dynamic failover to Mistral and Gemini.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868680"/>
            <a:ext cx="402336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Current Scientific Limitations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Under-Dispersed Magnitude: </a:t>
            </a:r>
            <a:r>
              <a:rPr sz="1000">
                <a:solidFill>
                  <a:srgbClr val="222222"/>
                </a:solidFill>
              </a:rPr>
              <a:t> The system captures cluster ordering accurately (ρ = +0.651), but between-cluster SD is ~2x conservative (predicted 0.0550 vs true 0.0979) due to W1-minimizing shrinkage (s &lt; 1).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Single-Country Validation: </a:t>
            </a:r>
            <a:r>
              <a:rPr sz="1000">
                <a:solidFill>
                  <a:srgbClr val="222222"/>
                </a:solidFill>
              </a:rPr>
              <a:t> US General Social Survey is completed. Replication on India (Global Flourishing Study) is implemented but not yet executed.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Prompt Paraphrasing: </a:t>
            </a:r>
            <a:r>
              <a:rPr sz="1000">
                <a:solidFill>
                  <a:srgbClr val="222222"/>
                </a:solidFill>
              </a:rPr>
              <a:t> Current headline results use 1 prompt paraphrase x 3 repeats. Robustness across 3 diverse paraphrases is scheduled for Stage B.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3315C"/>
                </a:solidFill>
              </a:rPr>
              <a:t>• Coarse Cluster Overfitting (K=18): </a:t>
            </a:r>
            <a:r>
              <a:rPr sz="1000">
                <a:solidFill>
                  <a:srgbClr val="222222"/>
                </a:solidFill>
              </a:rPr>
              <a:t> At very coarse partitions, out-of-fold selection overfits to small anchor counts. Resolved by partial pooling.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11 | Remaining Work &amp; Completion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3931920" cy="53035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Stage B Execution Tasks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India GFS Replication: </a:t>
            </a:r>
            <a:r>
              <a:rPr sz="1050">
                <a:solidFill>
                  <a:srgbClr val="222222"/>
                </a:solidFill>
              </a:rPr>
              <a:t> Run pipeline on Global Flourishing Study (India n = 12,765, COUNTRY=6) to evaluate cross-cultural generalizability.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Cross-Instrument Validation: </a:t>
            </a:r>
            <a:r>
              <a:rPr sz="1050">
                <a:solidFill>
                  <a:srgbClr val="222222"/>
                </a:solidFill>
              </a:rPr>
              <a:t> Benchmark against Pew OpinionQA (15 ATP waves, individual-level microdata).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Paraphrase-Axis Ensemble: </a:t>
            </a:r>
            <a:r>
              <a:rPr sz="1050">
                <a:solidFill>
                  <a:srgbClr val="222222"/>
                </a:solidFill>
              </a:rPr>
              <a:t> Evaluate 3 hand-written question paraphrases x 3 repeats to test phrasing invariance.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Opinion Dynamics (M8): </a:t>
            </a:r>
            <a:r>
              <a:rPr sz="1050">
                <a:solidFill>
                  <a:srgbClr val="222222"/>
                </a:solidFill>
              </a:rPr>
              <a:t> Model temporal attitude shifts across 35 GSS historical waves with time horizon as an explicit variable.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868680"/>
            <a:ext cx="402336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Target Deliverables &amp; Timeline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Weeks 1–4 (India &amp; Cross-Instrument): </a:t>
            </a:r>
            <a:r>
              <a:rPr sz="1050">
                <a:solidFill>
                  <a:srgbClr val="222222"/>
                </a:solidFill>
              </a:rPr>
              <a:t> Complete GFS India replication run and Pew OpinionQA evaluation.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Weeks 5–7 (Dynamics &amp; Paraphrases): </a:t>
            </a:r>
            <a:r>
              <a:rPr sz="1050">
                <a:solidFill>
                  <a:srgbClr val="222222"/>
                </a:solidFill>
              </a:rPr>
              <a:t> Implement M8 opinion dynamics on repeated cross-sections; run paraphrase-axis ensemble.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Weeks 8–10 (Deployment &amp; Scenarios): </a:t>
            </a:r>
            <a:r>
              <a:rPr sz="1050">
                <a:solidFill>
                  <a:srgbClr val="222222"/>
                </a:solidFill>
              </a:rPr>
              <a:t> Finalize interactive Streamlit app with US and India policy scenario demonstrations.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3315C"/>
                </a:solidFill>
              </a:rPr>
              <a:t>• Weeks 11–12 (Documentation &amp; Defense): </a:t>
            </a:r>
            <a:r>
              <a:rPr sz="1050">
                <a:solidFill>
                  <a:srgbClr val="222222"/>
                </a:solidFill>
              </a:rPr>
              <a:t> Complete final project report and prepare research manuscript based on paper/RESULTS.md.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12 | Project Contribution &amp; Current Achievement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8138160" cy="237744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Defensible Project Contributions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3315C"/>
                </a:solidFill>
              </a:rPr>
              <a:t>1. Distributional Cluster-Agent Architecture: </a:t>
            </a:r>
            <a:r>
              <a:rPr sz="1050">
                <a:solidFill>
                  <a:srgbClr val="222222"/>
                </a:solidFill>
              </a:rPr>
              <a:t> Replaces unscalable individual personas with 56 interpretable demographic clusters, recovering true population variance (1.009 ratio).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3315C"/>
                </a:solidFill>
              </a:rPr>
              <a:t>2. Level/Deviation Calibration Mechanism: </a:t>
            </a:r>
            <a:r>
              <a:rPr sz="1050">
                <a:solidFill>
                  <a:srgbClr val="222222"/>
                </a:solidFill>
              </a:rPr>
              <a:t> Proves that LLM survey error is primarily a constant item level offset, and introduces an anchor-fitted subspace projection that cuts error by 69%.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3315C"/>
                </a:solidFill>
              </a:rPr>
              <a:t>3. Pre-Registered 6-Gate Falsification Framework: </a:t>
            </a:r>
            <a:r>
              <a:rPr sz="1050">
                <a:solidFill>
                  <a:srgbClr val="222222"/>
                </a:solidFill>
              </a:rPr>
              <a:t> Pre-registered pass marks (-20% W1) with 3-number honest reporting (achieved, baseline, floor) and independent re-derivation.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813816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Scientific Honesty: What We Claim vs What We Do Not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13315C"/>
                </a:solidFill>
              </a:rPr>
              <a:t>• Six Spec Corrections Discovered by Real Data: </a:t>
            </a:r>
            <a:r>
              <a:rPr sz="1050">
                <a:solidFill>
                  <a:srgbClr val="222222"/>
                </a:solidFill>
              </a:rPr>
              <a:t> K=150 -&gt; 56; GSS 2024 -&gt; pooled 2010–2022; $1,200 budget -&gt; $0 router; tuned router threshold 0.85 -&gt; 0.25 (restoring recall from 0 to 81%); restricted subspace projection; dropped counter-productive variance expansion.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13315C"/>
                </a:solidFill>
              </a:rPr>
              <a:t>• Explicit Non-Claims: </a:t>
            </a:r>
            <a:r>
              <a:rPr sz="1050">
                <a:solidFill>
                  <a:srgbClr val="222222"/>
                </a:solidFill>
              </a:rPr>
              <a:t> We do NOT claim to "simulate complete human societies", "predict real-world elections", or "replace human surveys".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13315C"/>
                </a:solidFill>
              </a:rPr>
              <a:t>• What We Defensibly Claim: </a:t>
            </a:r>
            <a:r>
              <a:rPr sz="1050">
                <a:solidFill>
                  <a:srgbClr val="222222"/>
                </a:solidFill>
              </a:rPr>
              <a:t> Given demographic marginals and anchor survey data, calibrated cluster agents accurately estimate held-out subgroup opinion distributions where demographic groups genuinely differ.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13 | Team Contribution &amp;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3931920" cy="25603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Vishal S (CB.SC.U4AIE23160)</a:t>
            </a:r>
          </a:p>
          <a:p>
            <a:pPr algn="l">
              <a:spcBef>
                <a:spcPts val="200"/>
              </a:spcBef>
              <a:defRPr sz="1100" b="1">
                <a:solidFill>
                  <a:srgbClr val="E07E19"/>
                </a:solidFill>
                <a:latin typeface="Calibri"/>
              </a:defRPr>
            </a:pPr>
            <a:r>
              <a:t>Role: Data Ingestion &amp; Clustering Lead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M1 Data Ingestion &amp; Harmonization (GSS adapter, recodes)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M2 Cluster Tree (K = 56) &amp; Kish Effective Sample Size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Layer 0 Verification: Published codebook matching (142/142 toplines)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868680"/>
            <a:ext cx="3931920" cy="25603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Nitin Krishna V (CB.SC.U4AIE23156)</a:t>
            </a:r>
          </a:p>
          <a:p>
            <a:pPr algn="l">
              <a:spcBef>
                <a:spcPts val="200"/>
              </a:spcBef>
              <a:defRPr sz="1100" b="1">
                <a:solidFill>
                  <a:srgbClr val="E07E19"/>
                </a:solidFill>
                <a:latin typeface="Calibri"/>
              </a:defRPr>
            </a:pPr>
            <a:r>
              <a:t>Role: Agent Design Lead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M3 Stat Card Builder &amp; Fold Isolation Contract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M4 LLM Distributional Elicitation Runner &amp; Schemas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Multi-provider API router, token guards, and SQLite caching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3931920" cy="25603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Gaurav Mahesh (CB.SC.U4AIE23176)</a:t>
            </a:r>
          </a:p>
          <a:p>
            <a:pPr algn="l">
              <a:spcBef>
                <a:spcPts val="200"/>
              </a:spcBef>
              <a:defRPr sz="1100" b="1">
                <a:solidFill>
                  <a:srgbClr val="E07E19"/>
                </a:solidFill>
                <a:latin typeface="Calibri"/>
              </a:defRPr>
            </a:pPr>
            <a:r>
              <a:t>Role: Simulation &amp; Integration Lead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M5 Cross-Fitted Calibration Layer (Level/Subspace)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M6 Post-Stratification Raking to ACS 2024 Census Margins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Layer 2 Permutation Test &amp; Gate 3 Diagnostic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566160"/>
            <a:ext cx="3931920" cy="2560320"/>
          </a:xfrm>
          <a:prstGeom prst="roundRect">
            <a:avLst/>
          </a:prstGeom>
          <a:solidFill>
            <a:srgbClr val="E9F2FA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Manogna Challa (CB.SC.U4AIE23175)</a:t>
            </a:r>
          </a:p>
          <a:p>
            <a:pPr algn="l">
              <a:spcBef>
                <a:spcPts val="200"/>
              </a:spcBef>
              <a:defRPr sz="1100" b="1">
                <a:solidFill>
                  <a:srgbClr val="E07E19"/>
                </a:solidFill>
                <a:latin typeface="Calibri"/>
              </a:defRPr>
            </a:pPr>
            <a:r>
              <a:t>Role: Analytics &amp; Visualization Lead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M9 Evaluation Benchmark Harness (W1, JS, ECE, Coverage)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M10 Streamlit Application &amp; Mandatory Honesty Box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22222"/>
                </a:solidFill>
              </a:rPr>
              <a:t>• Layer 5 Memorization &amp; Direct Recall Leakage Probing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14 |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First review - Final Year project • Team B17 • Slide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813816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bIns="91440" wrap="square"/>
          <a:lstStyle/>
          <a:p>
            <a:pPr algn="l">
              <a:defRPr sz="1300" b="1">
                <a:solidFill>
                  <a:srgbClr val="13315C"/>
                </a:solidFill>
                <a:latin typeface="Calibri"/>
              </a:defRPr>
            </a:pPr>
            <a:r>
              <a:t>Key Academic References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3315C"/>
                </a:solidFill>
              </a:rPr>
              <a:t>L. P. Argyle et al.,</a:t>
            </a:r>
            <a:r>
              <a:rPr sz="1000">
                <a:solidFill>
                  <a:srgbClr val="222222"/>
                </a:solidFill>
              </a:rPr>
              <a:t> "Out of One, Many: Using Language Models to Simulate Human Samples," Political Analysis, vol. 31, no. 3, pp. 337–351, 2023.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3315C"/>
                </a:solidFill>
              </a:rPr>
              <a:t>J. Bisbee et al.,</a:t>
            </a:r>
            <a:r>
              <a:rPr sz="1000">
                <a:solidFill>
                  <a:srgbClr val="222222"/>
                </a:solidFill>
              </a:rPr>
              <a:t> "The Perils of Using Large Language Models to Replace Human Participants," Political Analysis, pp. 1–17, 2024.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3315C"/>
                </a:solidFill>
              </a:rPr>
              <a:t>S. Santurkar et al.,</a:t>
            </a:r>
            <a:r>
              <a:rPr sz="1000">
                <a:solidFill>
                  <a:srgbClr val="222222"/>
                </a:solidFill>
              </a:rPr>
              <a:t> "Whose Opinions Do Language Models Reflect?," in International Conference on Machine Learning (ICML - OpinionQA), 2023.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3315C"/>
                </a:solidFill>
              </a:rPr>
              <a:t>J. S. Park et al.,</a:t>
            </a:r>
            <a:r>
              <a:rPr sz="1000">
                <a:solidFill>
                  <a:srgbClr val="222222"/>
                </a:solidFill>
              </a:rPr>
              <a:t> "Generative Agents: Interactive Simulacra of Human Behavior," in Proc. ACM UIST, 2023.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3315C"/>
                </a:solidFill>
              </a:rPr>
              <a:t>J. S. Park et al.,</a:t>
            </a:r>
            <a:r>
              <a:rPr sz="1000">
                <a:solidFill>
                  <a:srgbClr val="222222"/>
                </a:solidFill>
              </a:rPr>
              <a:t> "Generative Agent Simulations of 1,000 People," arXiv preprint arXiv:2411.10109, 2024.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3315C"/>
                </a:solidFill>
              </a:rPr>
              <a:t>Y. Li et al.,</a:t>
            </a:r>
            <a:r>
              <a:rPr sz="1000">
                <a:solidFill>
                  <a:srgbClr val="222222"/>
                </a:solidFill>
              </a:rPr>
              <a:t> "EconAgent: Large Language Model-Empowered Agents for Simulating Macroeconomic Activities," in Proc. ACL, 2024.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3315C"/>
                </a:solidFill>
              </a:rPr>
              <a:t>X. Pi et al.,</a:t>
            </a:r>
            <a:r>
              <a:rPr sz="1000">
                <a:solidFill>
                  <a:srgbClr val="222222"/>
                </a:solidFill>
              </a:rPr>
              <a:t> "AgentSociety: Large-Scale Simulation of Agent Societies," arXiv preprint arXiv:2502.08601, 2025.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3315C"/>
                </a:solidFill>
              </a:rPr>
              <a:t>S. Chopra et al.,</a:t>
            </a:r>
            <a:r>
              <a:rPr sz="1000">
                <a:solidFill>
                  <a:srgbClr val="222222"/>
                </a:solidFill>
              </a:rPr>
              <a:t> "Large-Scale LLM-Archetype Agent-Based Modeling," arXiv preprint,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374</Words>
  <Application>Microsoft Office PowerPoint</Application>
  <PresentationFormat>On-screen Show (4:3)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 V</cp:lastModifiedBy>
  <cp:revision>10</cp:revision>
  <dcterms:created xsi:type="dcterms:W3CDTF">2013-01-27T09:14:16Z</dcterms:created>
  <dcterms:modified xsi:type="dcterms:W3CDTF">2026-09-17T06:10:46Z</dcterms:modified>
  <cp:category/>
</cp:coreProperties>
</file>